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6b012710c146d0" /><Relationship Type="http://schemas.openxmlformats.org/officeDocument/2006/relationships/extended-properties" Target="/docProps/app.xml" Id="R201e7899e1414abc" /><Relationship Type="http://schemas.openxmlformats.org/officeDocument/2006/relationships/officeDocument" Target="/ppt/presentation.xml" Id="Ree5bb77b26324a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2d678272c34673"/>
  </p:sldMasterIdLst>
  <p:notesMasterIdLst>
    <p:notesMasterId xmlns:r="http://schemas.openxmlformats.org/officeDocument/2006/relationships" r:id="Rc174327d8ecb4fc3"/>
  </p:notesMasterIdLst>
  <p:sldIdLst>
    <p:sldId xmlns:r="http://schemas.openxmlformats.org/officeDocument/2006/relationships" id="256" r:id="R35eecf9dca454166"/>
    <p:sldId xmlns:r="http://schemas.openxmlformats.org/officeDocument/2006/relationships" id="257" r:id="R52f7a8bb05d64f9a"/>
    <p:sldId xmlns:r="http://schemas.openxmlformats.org/officeDocument/2006/relationships" id="258" r:id="R18d5912d73a24877"/>
    <p:sldId xmlns:r="http://schemas.openxmlformats.org/officeDocument/2006/relationships" id="259" r:id="R4b478d30dd6049cb"/>
    <p:sldId xmlns:r="http://schemas.openxmlformats.org/officeDocument/2006/relationships" id="260" r:id="R614777ab185e46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dd8ed055c84d03" /><Relationship Type="http://schemas.openxmlformats.org/officeDocument/2006/relationships/slideMaster" Target="/ppt/slideMasters/slideMaster1.xml" Id="R6e2d678272c34673" /><Relationship Type="http://schemas.openxmlformats.org/officeDocument/2006/relationships/notesMaster" Target="/ppt/notesMasters/notesMaster1.xml" Id="Rc174327d8ecb4fc3" /><Relationship Type="http://schemas.openxmlformats.org/officeDocument/2006/relationships/presProps" Target="/ppt/presProps.xml" Id="Re363c88ece184b79" /><Relationship Type="http://schemas.openxmlformats.org/officeDocument/2006/relationships/tableStyles" Target="/ppt/tableStyles.xml" Id="R8eaab481108149ca" /><Relationship Type="http://schemas.openxmlformats.org/officeDocument/2006/relationships/slide" Target="/ppt/slides/slide1.xml" Id="R35eecf9dca454166" /><Relationship Type="http://schemas.openxmlformats.org/officeDocument/2006/relationships/slide" Target="/ppt/slides/slide2.xml" Id="R52f7a8bb05d64f9a" /><Relationship Type="http://schemas.openxmlformats.org/officeDocument/2006/relationships/slide" Target="/ppt/slides/slide3.xml" Id="R18d5912d73a24877" /><Relationship Type="http://schemas.openxmlformats.org/officeDocument/2006/relationships/slide" Target="/ppt/slides/slide4.xml" Id="R4b478d30dd6049cb" /><Relationship Type="http://schemas.openxmlformats.org/officeDocument/2006/relationships/slide" Target="/ppt/slides/slide5.xml" Id="R614777ab185e46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0763e0f54e45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2640e484ee4274" /><Relationship Type="http://schemas.openxmlformats.org/officeDocument/2006/relationships/notesMaster" Target="/ppt/notesMasters/notesMaster1.xml" Id="Rd55f21df7e4346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98a2ece7084be9" /><Relationship Type="http://schemas.openxmlformats.org/officeDocument/2006/relationships/notesMaster" Target="/ppt/notesMasters/notesMaster1.xml" Id="R7470eaf5c82642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ff3c0a7ca84abd" /><Relationship Type="http://schemas.openxmlformats.org/officeDocument/2006/relationships/notesMaster" Target="/ppt/notesMasters/notesMaster1.xml" Id="R08df93c82b6641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0edbba07da4de2" /><Relationship Type="http://schemas.openxmlformats.org/officeDocument/2006/relationships/notesMaster" Target="/ppt/notesMasters/notesMaster1.xml" Id="R4a36cc77e90048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b03c94ea3f4406" /><Relationship Type="http://schemas.openxmlformats.org/officeDocument/2006/relationships/notesMaster" Target="/ppt/notesMasters/notesMaster1.xml" Id="R9eaa14ea631849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讲解约40秒。研究问题是国际比较的估计目标：即使年龄标准化不变，参照国人口份额变化也可能改变总率差。当前汇报以GBD+UN的新投稿准备稿为准。NSFG已从此主稿移出，不混入本次结果。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新文章来源：2026-10-25 SubmissionPrep_XX。https://github.com/jiabao1314/PCOS/tree/main/output/SubmissionPrep_XX_20261025</a:t>
            </a:r>
          </a:p>
          <a:p xmlns:a="http://schemas.openxmlformats.org/drawingml/2006/main">
            <a:r>
              <a:t>GBD Results: https://vizhub.healthdata.org/gbd-results/</a:t>
            </a:r>
          </a:p>
          <a:p xmlns:a="http://schemas.openxmlformats.org/drawingml/2006/main">
            <a:r>
              <a:t>UN WPP 2024: https://population.un.org/wpp/</a:t>
            </a:r>
          </a:p>
          <a:p xmlns:a="http://schemas.openxmlformats.org/drawingml/2006/main">
            <a:r>
              <a:t>本次复算文件：source_article/submission/SubmissionPrep_XX/tex/human_reproduction.tex</a:t>
            </a:r>
          </a:p>
          <a:p xmlns:a="http://schemas.openxmlformats.org/drawingml/2006/main">
            <a:r>
              <a:t>所有自定义率差及分解项为GBD模型点估计。UN仅检查人口权重敏感性，不独立验证疾病患病率。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约70秒。先用GBD人数除以同版人口获得年龄别疾病率，18个国家按年龄内人口份额汇总，再按固定年龄权重标准化。UN方案只改变参照国份额，不把UN人口替换为疾病率分母。对称分解平均两个替换顺序，乘积交互平均分配，三项严格相加。替代基准对应不同的描述性估计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新文章来源：2026-10-25 SubmissionPrep_XX。https://github.com/jiabao1314/PCOS/tree/main/output/SubmissionPrep_XX_20261025</a:t>
            </a:r>
          </a:p>
          <a:p xmlns:a="http://schemas.openxmlformats.org/drawingml/2006/main">
            <a:r>
              <a:t>GBD Results: https://vizhub.healthdata.org/gbd-results/</a:t>
            </a:r>
          </a:p>
          <a:p xmlns:a="http://schemas.openxmlformats.org/drawingml/2006/main">
            <a:r>
              <a:t>UN WPP 2024: https://population.un.org/wpp/</a:t>
            </a:r>
          </a:p>
          <a:p xmlns:a="http://schemas.openxmlformats.org/drawingml/2006/main">
            <a:r>
              <a:t>本次复算文件：code/PCOS_NewArticle_complete.py; code/PCOS_NewArticle_complete.R; results/python/qc_summary.json</a:t>
            </a:r>
          </a:p>
          <a:p xmlns:a="http://schemas.openxmlformats.org/drawingml/2006/main">
            <a:r>
              <a:t>所有自定义率差及分解项为GBD模型点估计。UN仅检查人口权重敏感性，不独立验证疾病患病率。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约70秒。两套权重的中国率贡献完全相同，均+271.51，因为从未改变中国疾病率。GBD参照国率贡献-208.62，人口构成+88.65，总和+151.54；UN对应-207.59、+86.76、+150.69。58.5%及57.6%以带符号的净率差变化作分母，不能称患病率的归因比例，不能与69.4%的继发贡献相加。1990和2023的总率差在GBD为-272.92、-121.38，UN为-273.31、-122.62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新文章来源：2026-10-25 SubmissionPrep_XX。https://github.com/jiabao1314/PCOS/tree/main/output/SubmissionPrep_XX_20261025</a:t>
            </a:r>
          </a:p>
          <a:p xmlns:a="http://schemas.openxmlformats.org/drawingml/2006/main">
            <a:r>
              <a:t>GBD Results: https://vizhub.healthdata.org/gbd-results/</a:t>
            </a:r>
          </a:p>
          <a:p xmlns:a="http://schemas.openxmlformats.org/drawingml/2006/main">
            <a:r>
              <a:t>UN WPP 2024: https://population.un.org/wpp/</a:t>
            </a:r>
          </a:p>
          <a:p xmlns:a="http://schemas.openxmlformats.org/drawingml/2006/main">
            <a:r>
              <a:t>本次复算文件：results/python/symmetric_decomposition_1990_endpoints.csv; presentation/slide_data.json</a:t>
            </a:r>
          </a:p>
          <a:p xmlns:a="http://schemas.openxmlformats.org/drawingml/2006/main">
            <a:r>
              <a:t>所有自定义率差及分解项为GBD模型点估计。UN仅检查人口权重敏感性，不独立验证疾病患病率。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约60秒。图中+2.262711、-48.342713、-127.885943均来自同一组GBD年龄别疾病率。中国标化率始终507.722060。三个基准分别代表当年参照人口、固定1990构成以及国家等权。不能把情景差异解释为抽样误差，也不能只选正号来宣称超过参照国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新文章来源：2026-10-25 SubmissionPrep_XX。https://github.com/jiabao1314/PCOS/tree/main/output/SubmissionPrep_XX_20261025</a:t>
            </a:r>
          </a:p>
          <a:p xmlns:a="http://schemas.openxmlformats.org/drawingml/2006/main">
            <a:r>
              <a:t>GBD Results: https://vizhub.healthdata.org/gbd-results/</a:t>
            </a:r>
          </a:p>
          <a:p xmlns:a="http://schemas.openxmlformats.org/drawingml/2006/main">
            <a:r>
              <a:t>UN WPP 2024: https://population.un.org/wpp/</a:t>
            </a:r>
          </a:p>
          <a:p xmlns:a="http://schemas.openxmlformats.org/drawingml/2006/main">
            <a:r>
              <a:t>本次复算文件：results/python/all_annual_benchmark_aspr.csv; presentation/slide_data.json</a:t>
            </a:r>
          </a:p>
          <a:p xmlns:a="http://schemas.openxmlformats.org/drawingml/2006/main">
            <a:r>
              <a:t>所有自定义率差及分解项为GBD模型点估计。UN仅检查人口权重敏感性，不独立验证疾病患病率。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约70秒。内异症总率差2021=-8.452110、2022=-8.760172、2023=-0.202454。中国率43.131357升至53.303704，约23.6%。末年上升缺少独立病因流行病学解释，不能直接写成长期收敛。组会讨论可集中于哪一种参照基准最适合论文科学问题，以及如何收紧结论。联合draws缺失，UN不是疾病结局验证，两点均保留。R与Python已独立复算1224条年度比较、36条端点分解、216条逐国剔除及12条年度链式分解，差异低于1e-8；这证明计算一致，不证明GBD模型本身无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新文章来源：2026-10-25 SubmissionPrep_XX。https://github.com/jiabao1314/PCOS/tree/main/output/SubmissionPrep_XX_20261025</a:t>
            </a:r>
          </a:p>
          <a:p xmlns:a="http://schemas.openxmlformats.org/drawingml/2006/main">
            <a:r>
              <a:t>GBD Results: https://vizhub.healthdata.org/gbd-results/</a:t>
            </a:r>
          </a:p>
          <a:p xmlns:a="http://schemas.openxmlformats.org/drawingml/2006/main">
            <a:r>
              <a:t>UN WPP 2024: https://population.un.org/wpp/</a:t>
            </a:r>
          </a:p>
          <a:p xmlns:a="http://schemas.openxmlformats.org/drawingml/2006/main">
            <a:r>
              <a:t>本次复算文件：results/python/all_annual_benchmark_aspr.csv; docs/R_Python_crosscheck.json; source_article/submission/SubmissionPrep_XX/tex/human_reproduction.tex</a:t>
            </a:r>
          </a:p>
          <a:p xmlns:a="http://schemas.openxmlformats.org/drawingml/2006/main">
            <a:r>
              <a:t>所有自定义率差及分解项为GBD模型点估计。UN仅检查人口权重敏感性，不独立验证疾病患病率。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056158351f4a0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57dfc845494cd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38330f7cf44a0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951caaa0fa4d3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38e560618c449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f1fd21efa64e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598620-AAC7-4EEE-8FFD-E14F409335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BFF977E-9C26-4B29-9BFF-CA39B45705D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85E0C1D-1E23-45CC-A382-034A69D527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F662D4-5322-4A09-9EDF-C0E9790921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00F4C5D-665B-4D02-A628-016D032001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D725E5C-CAFB-4EE6-921F-15874101F3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F2BBE78-2789-46A9-9D2A-4A40B8118D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C06F318-237F-435B-95AD-56030C5EE93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0C9CAD-FF3B-450A-A996-9D39DA1F1D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8AE2D6B-E976-4C76-86FC-6F26EED7B6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f967b308904920" /><Relationship Type="http://schemas.openxmlformats.org/officeDocument/2006/relationships/slideLayout" Target="/ppt/slideLayouts/slideLayout1.xml" Id="R5675544aaba245ab" /><Relationship Type="http://schemas.openxmlformats.org/officeDocument/2006/relationships/slideLayout" Target="/ppt/slideLayouts/slideLayout2.xml" Id="Rf436da72179d4a41" /><Relationship Type="http://schemas.openxmlformats.org/officeDocument/2006/relationships/slideLayout" Target="/ppt/slideLayouts/slideLayout3.xml" Id="R427c3da655d64bbd" /><Relationship Type="http://schemas.openxmlformats.org/officeDocument/2006/relationships/slideLayout" Target="/ppt/slideLayouts/slideLayout4.xml" Id="Ree4f273d7e1c4829" /><Relationship Type="http://schemas.openxmlformats.org/officeDocument/2006/relationships/slideLayout" Target="/ppt/slideLayouts/slideLayout5.xml" Id="R95e071e282ff4fad" /><Relationship Type="http://schemas.openxmlformats.org/officeDocument/2006/relationships/slideLayout" Target="/ppt/slideLayouts/slideLayout6.xml" Id="R357617d1f50441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75544aaba245ab"/>
    <p:sldLayoutId xmlns:r="http://schemas.openxmlformats.org/officeDocument/2006/relationships" id="2147483650" r:id="Rf436da72179d4a41"/>
    <p:sldLayoutId xmlns:r="http://schemas.openxmlformats.org/officeDocument/2006/relationships" id="2147483651" r:id="R427c3da655d64bbd"/>
    <p:sldLayoutId xmlns:r="http://schemas.openxmlformats.org/officeDocument/2006/relationships" id="2147483652" r:id="Ree4f273d7e1c4829"/>
    <p:sldLayoutId xmlns:r="http://schemas.openxmlformats.org/officeDocument/2006/relationships" id="2147483653" r:id="R95e071e282ff4fad"/>
    <p:sldLayoutId xmlns:r="http://schemas.openxmlformats.org/officeDocument/2006/relationships" id="2147483654" r:id="R357617d1f50441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535ad23a024b00" /><Relationship Type="http://schemas.openxmlformats.org/officeDocument/2006/relationships/notesSlide" Target="/ppt/notesSlides/notesSlide1.xml" Id="R6bf11e2defa14b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7f5b0bd09e4103" /><Relationship Type="http://schemas.openxmlformats.org/officeDocument/2006/relationships/notesSlide" Target="/ppt/notesSlides/notesSlide2.xml" Id="Rafbe2b01ac4348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10772867c9422e" /><Relationship Type="http://schemas.openxmlformats.org/officeDocument/2006/relationships/chart" Target="/ppt/slides/charts/chart1.xml" Id="Rb0845a4a353c462c" /><Relationship Type="http://schemas.openxmlformats.org/officeDocument/2006/relationships/notesSlide" Target="/ppt/notesSlides/notesSlide3.xml" Id="Rf840499202654b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c9081bd10a44ae" /><Relationship Type="http://schemas.openxmlformats.org/officeDocument/2006/relationships/chart" Target="/ppt/slides/charts/chart2.xml" Id="Red38e040f40f43a8" /><Relationship Type="http://schemas.openxmlformats.org/officeDocument/2006/relationships/notesSlide" Target="/ppt/notesSlides/notesSlide4.xml" Id="R8410eaffc3ce43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ae0966851a4fed" /><Relationship Type="http://schemas.openxmlformats.org/officeDocument/2006/relationships/chart" Target="/ppt/slides/charts/chart3.xml" Id="Rce29fae967f942ad" /><Relationship Type="http://schemas.openxmlformats.org/officeDocument/2006/relationships/notesSlide" Target="/ppt/notesSlides/notesSlide5.xml" Id="R39d98f1f078a466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GBD人口权重</c:v>
          </c:tx>
          <c:spPr>
            <a:solidFill xmlns:a="http://schemas.openxmlformats.org/drawingml/2006/main">
              <a:srgbClr val="126B72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中国率变化</c:v>
                </c:pt>
                <c:pt idx="1">
                  <c:v>参照国率变化</c:v>
                </c:pt>
                <c:pt idx="2">
                  <c:v>人口构成变化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271.513723</c:v>
                </c:pt>
                <c:pt idx="1">
                  <c:v>-208.623253</c:v>
                </c:pt>
                <c:pt idx="2">
                  <c:v>88.648533</c:v>
                </c:pt>
              </c:numCache>
            </c:numRef>
          </c:val>
        </c:ser>
        <c:ser>
          <c:idx val="1"/>
          <c:order val="1"/>
          <c:tx>
            <c:v>UN人口权重</c:v>
          </c:tx>
          <c:spPr>
            <a:solidFill xmlns:a="http://schemas.openxmlformats.org/drawingml/2006/main">
              <a:srgbClr val="BB681F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中国率变化</c:v>
                </c:pt>
                <c:pt idx="1">
                  <c:v>参照国率变化</c:v>
                </c:pt>
                <c:pt idx="2">
                  <c:v>人口构成变化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271.513723</c:v>
                </c:pt>
                <c:pt idx="1">
                  <c:v>-207.585159</c:v>
                </c:pt>
                <c:pt idx="2">
                  <c:v>86.763015</c:v>
                </c:pt>
              </c:numCache>
            </c:numRef>
          </c:val>
        </c:ser>
        <c:dLbls>
          <c:numFmt formatCode="+0.00;-0.00;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FFFFFF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BE4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330"/>
          <c:min val="-2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BE4E7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55646C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中国减参照率差</c:v>
          </c:tx>
          <c:spPr>
            <a:solidFill xmlns:a="http://schemas.openxmlformats.org/drawingml/2006/main">
              <a:srgbClr val="126B72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BB681F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当年人口权重</c:v>
                </c:pt>
                <c:pt idx="1">
                  <c:v>固定1990人口权重</c:v>
                </c:pt>
                <c:pt idx="2">
                  <c:v>国家等权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2.262711</c:v>
                </c:pt>
                <c:pt idx="1">
                  <c:v>-48.342713</c:v>
                </c:pt>
                <c:pt idx="2">
                  <c:v>-127.885943</c:v>
                </c:pt>
              </c:numCache>
            </c:numRef>
          </c:val>
        </c:ser>
        <c:dLbls>
          <c:numFmt formatCode="+0.00;-0.00;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23744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BE4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-16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BE4E7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4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中国减参照率差</c:v>
          </c:tx>
          <c:spPr>
            <a:solidFill xmlns:a="http://schemas.openxmlformats.org/drawingml/2006/main">
              <a:srgbClr val="126B72"/>
            </a:solidFill>
          </c:spPr>
          <c:invertIfNegative val="0"/>
          <c:dPt>
            <c:idx val="2"/>
            <c:invertIfNegative val="0"/>
            <c:spPr>
              <a:solidFill xmlns:a="http://schemas.openxmlformats.org/drawingml/2006/main">
                <a:srgbClr val="BB681F"/>
              </a:solidFill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-8.45211</c:v>
                </c:pt>
                <c:pt idx="1">
                  <c:v>-8.760172</c:v>
                </c:pt>
                <c:pt idx="2">
                  <c:v>-0.202454</c:v>
                </c:pt>
              </c:numCache>
            </c:numRef>
          </c:val>
        </c:ser>
        <c:dLbls>
          <c:numFmt formatCode="+0.00;-0.00;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23744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high"/>
        <c:spPr>
          <a:ln xmlns:a="http://schemas.openxmlformats.org/drawingml/2006/main" w="9525">
            <a:solidFill>
              <a:srgbClr val="DBE4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-1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BE4E7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BD 2023  ×  UN WPP 2024">
            <a:extLst xmlns:a="http://schemas.openxmlformats.org/drawingml/2006/main">
              <a:ext uri="{FF2B5EF4-FFF2-40B4-BE49-F238E27FC236}">
                <a16:creationId xmlns:a16="http://schemas.microsoft.com/office/drawing/2014/main" id="{ED3E46CD-A7D6-46FB-8AE7-F421C5F3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26B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950" b="1">
                <a:solidFill>
                  <a:srgbClr val="126B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950" b="1">
                <a:solidFill>
                  <a:srgbClr val="126B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950" b="1">
                <a:solidFill>
                  <a:srgbClr val="126B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950" b="1">
                <a:solidFill>
                  <a:srgbClr val="126B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950" b="1">
                <a:solidFill>
                  <a:srgbClr val="126B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950" b="1">
                <a:solidFill>
                  <a:srgbClr val="126B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950" b="1">
                <a:solidFill>
                  <a:srgbClr val="126B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950" b="1">
                <a:solidFill>
                  <a:srgbClr val="126B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950" b="1">
                <a:solidFill>
                  <a:srgbClr val="126B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26B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26B72"/>
                </a:solidFill>
                <a:latin typeface="Arial Unicode MS"/>
                <a:ea typeface="Arial Unicode MS"/>
                <a:cs typeface="Arial Unicode MS"/>
              </a:rPr>
              <a:t>GBD 2023  ×  UN WPP 2024</a:t>
            </a:r>
          </a:p>
        </p:txBody>
      </p:sp>
      <p:sp>
        <p:nvSpPr>
          <p:cNvPr id="2" name="国际参照人口构成&#10;与不孕负担比较">
            <a:extLst xmlns:a="http://schemas.openxmlformats.org/drawingml/2006/main">
              <a:ext uri="{FF2B5EF4-FFF2-40B4-BE49-F238E27FC236}">
                <a16:creationId xmlns:a16="http://schemas.microsoft.com/office/drawing/2014/main" id="{6166310F-F74F-4540-B5C1-8D67A7DF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53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0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450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450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450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450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450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450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450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450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450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50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rPr>
              <a:t>国际参照人口构成</a:t>
            </a:r>
          </a:p>
          <a:p xmlns:a="http://schemas.openxmlformats.org/drawingml/2006/main">
            <a:pPr>
              <a:defRPr sz="450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50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rPr>
              <a:t>与不孕负担比较</a:t>
            </a:r>
          </a:p>
        </p:txBody>
      </p:sp>
      <p:sp>
        <p:nvSpPr>
          <p:cNvPr id="3" name="中国与其余18个G20国家的率差变化，&#10;有多少来自参照人口构成？">
            <a:extLst xmlns:a="http://schemas.openxmlformats.org/drawingml/2006/main">
              <a:ext uri="{FF2B5EF4-FFF2-40B4-BE49-F238E27FC236}">
                <a16:creationId xmlns:a16="http://schemas.microsoft.com/office/drawing/2014/main" id="{9793A45E-4E18-45EE-97FE-A17F3949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55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55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55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55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55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55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55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55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55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rPr>
              <a:t>中国与其余18个G20国家的率差变化，</a:t>
            </a:r>
          </a:p>
          <a:p xmlns:a="http://schemas.openxmlformats.org/drawingml/2006/main">
            <a:pPr>
              <a:defRPr sz="255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rPr>
              <a:t>有多少来自参照人口构成？</a:t>
            </a:r>
          </a:p>
        </p:txBody>
      </p:sp>
      <p:sp>
        <p:nvSpPr>
          <p:cNvPr id="4" name="1990—2023年，女性15—49岁&#10;PCOS与子宫内膜异位症相关不">
            <a:extLst xmlns:a="http://schemas.openxmlformats.org/drawingml/2006/main">
              <a:ext uri="{FF2B5EF4-FFF2-40B4-BE49-F238E27FC236}">
                <a16:creationId xmlns:a16="http://schemas.microsoft.com/office/drawing/2014/main" id="{54C87572-4A5F-4475-8CEB-652D0AC4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668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9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9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9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9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9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9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9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9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9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rPr>
              <a:t>1990—2023年，女性15—49岁</a:t>
            </a:r>
          </a:p>
          <a:p xmlns:a="http://schemas.openxmlformats.org/drawingml/2006/main">
            <a:pPr>
              <a:defRPr sz="19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rPr>
              <a:t>PCOS与子宫内膜异位症相关不孕，按原发和继发分层</a:t>
            </a:r>
          </a:p>
        </p:txBody>
      </p:sp>
      <p:sp>
        <p:nvSpPr>
          <p:cNvPr id="5" name="组会汇报  2026-10-26">
            <a:extLst xmlns:a="http://schemas.openxmlformats.org/drawingml/2006/main">
              <a:ext uri="{FF2B5EF4-FFF2-40B4-BE49-F238E27FC236}">
                <a16:creationId xmlns:a16="http://schemas.microsoft.com/office/drawing/2014/main" id="{0E1CC247-5EEC-40AF-B951-3BE33026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57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57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57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57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57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57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57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57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57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rPr>
              <a:t>组会汇报  2026-10-26</a:t>
            </a:r>
          </a:p>
        </p:txBody>
      </p:sp>
      <p:sp>
        <p:nvSpPr>
          <p:cNvPr id="6" name="1 / 5">
            <a:extLst xmlns:a="http://schemas.openxmlformats.org/drawingml/2006/main">
              <a:ext uri="{FF2B5EF4-FFF2-40B4-BE49-F238E27FC236}">
                <a16:creationId xmlns:a16="http://schemas.microsoft.com/office/drawing/2014/main" id="{678836E6-835D-4CC9-B37F-81317782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rPr>
              <a:t>1 / 5</a:t>
            </a:r>
          </a:p>
        </p:txBody>
      </p:sp>
    </p:spTree>
    <p:extLst>
      <p:ext uri="{BB962C8B-B14F-4D97-AF65-F5344CB8AC3E}">
        <p14:creationId xmlns:p14="http://schemas.microsoft.com/office/powerpoint/2010/main" val="20175904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847AC4-14FF-4B95-9045-789F7A218587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686800" y="37528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B72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600306-A865-4E13-AAF3-8BB6DCBC83AA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848350" y="37528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B72"/>
            </a:solidFill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454659-ADCE-40FD-AE0B-1F233D7029C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09900" y="37528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B72"/>
            </a:solidFill>
            <a:tailEnd type="triangle" w="med" len="med"/>
          </a:ln>
        </p:spPr>
      </p:cxnSp>
      <p:sp>
        <p:nvSpPr>
          <p:cNvPr id="22" name="研究设计与技术路线">
            <a:extLst xmlns:a="http://schemas.openxmlformats.org/drawingml/2006/main">
              <a:ext uri="{FF2B5EF4-FFF2-40B4-BE49-F238E27FC236}">
                <a16:creationId xmlns:a16="http://schemas.microsoft.com/office/drawing/2014/main" id="{7D7177AE-75C1-4C4F-B468-CC2020E5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rPr>
              <a:t>研究设计与技术路线</a:t>
            </a:r>
          </a:p>
        </p:txBody>
      </p:sp>
      <p:sp>
        <p:nvSpPr>
          <p:cNvPr id="2" name="2 / 5">
            <a:extLst xmlns:a="http://schemas.openxmlformats.org/drawingml/2006/main">
              <a:ext uri="{FF2B5EF4-FFF2-40B4-BE49-F238E27FC236}">
                <a16:creationId xmlns:a16="http://schemas.microsoft.com/office/drawing/2014/main" id="{78EE3C67-918F-4BA5-AF79-2A1A6F6A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rPr>
              <a:t>2 / 5</a:t>
            </a:r>
          </a:p>
        </p:txBody>
      </p:sp>
      <p:sp>
        <p:nvSpPr>
          <p:cNvPr id="3" name="GBD：疾病人数、同版女性人口与标准年龄权重">
            <a:extLst xmlns:a="http://schemas.openxmlformats.org/drawingml/2006/main">
              <a:ext uri="{FF2B5EF4-FFF2-40B4-BE49-F238E27FC236}">
                <a16:creationId xmlns:a16="http://schemas.microsoft.com/office/drawing/2014/main" id="{9206DCCC-8B65-4B72-B04F-B5A92B2E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26B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00" b="1">
                <a:solidFill>
                  <a:srgbClr val="126B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00" b="1">
                <a:solidFill>
                  <a:srgbClr val="126B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00" b="1">
                <a:solidFill>
                  <a:srgbClr val="126B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00" b="1">
                <a:solidFill>
                  <a:srgbClr val="126B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00" b="1">
                <a:solidFill>
                  <a:srgbClr val="126B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00" b="1">
                <a:solidFill>
                  <a:srgbClr val="126B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00" b="1">
                <a:solidFill>
                  <a:srgbClr val="126B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00" b="1">
                <a:solidFill>
                  <a:srgbClr val="126B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00" b="1">
                <a:solidFill>
                  <a:srgbClr val="126B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6B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26B72"/>
                </a:solidFill>
                <a:latin typeface="Arial Unicode MS"/>
                <a:ea typeface="Arial Unicode MS"/>
                <a:cs typeface="Arial Unicode MS"/>
              </a:rPr>
              <a:t>GBD：疾病人数、同版女性人口与标准年龄权重</a:t>
            </a:r>
          </a:p>
        </p:txBody>
      </p:sp>
      <p:sp>
        <p:nvSpPr>
          <p:cNvPr id="4" name="UN WPP：独立人口估计，用于替换18国年龄内人口份额">
            <a:extLst xmlns:a="http://schemas.openxmlformats.org/drawingml/2006/main">
              <a:ext uri="{FF2B5EF4-FFF2-40B4-BE49-F238E27FC236}">
                <a16:creationId xmlns:a16="http://schemas.microsoft.com/office/drawing/2014/main" id="{365C9720-9EF5-44B9-8EA3-EA414879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11125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9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9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9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9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9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9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9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9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9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rPr>
              <a:t>UN WPP：独立人口估计，用于替换18国年龄内人口份额</a:t>
            </a:r>
          </a:p>
        </p:txBody>
      </p:sp>
      <p:sp>
        <p:nvSpPr>
          <p:cNvPr id="5" name="技术路线阶段1">
            <a:extLst xmlns:a="http://schemas.openxmlformats.org/drawingml/2006/main">
              <a:ext uri="{FF2B5EF4-FFF2-40B4-BE49-F238E27FC236}">
                <a16:creationId xmlns:a16="http://schemas.microsoft.com/office/drawing/2014/main" id="{FB38A364-E424-49EA-84F2-7164D041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24765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BE4E7"/>
            </a:solidFill>
          </a:ln>
        </p:spPr>
      </p:sp>
      <p:sp>
        <p:nvSpPr>
          <p:cNvPr id="6" name="01  数据核验">
            <a:extLst xmlns:a="http://schemas.openxmlformats.org/drawingml/2006/main">
              <a:ext uri="{FF2B5EF4-FFF2-40B4-BE49-F238E27FC236}">
                <a16:creationId xmlns:a16="http://schemas.microsoft.com/office/drawing/2014/main" id="{EC53D07B-28B6-4245-A737-03C825BA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rPr>
              <a:t>01  数据核验</a:t>
            </a:r>
          </a:p>
        </p:txBody>
      </p:sp>
      <p:sp>
        <p:nvSpPr>
          <p:cNvPr id="7" name="19国、34年&#10;7年龄组、两病因&#10;核对分型可加性">
            <a:extLst xmlns:a="http://schemas.openxmlformats.org/drawingml/2006/main">
              <a:ext uri="{FF2B5EF4-FFF2-40B4-BE49-F238E27FC236}">
                <a16:creationId xmlns:a16="http://schemas.microsoft.com/office/drawing/2014/main" id="{EDC89AA1-6C68-4867-A344-C98C0C54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21717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rPr>
              <a:t>19国、34年</a:t>
            </a:r>
          </a:p>
          <a:p xmlns:a="http://schemas.openxmlformats.org/drawingml/2006/main">
            <a: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rPr>
              <a:t>7年龄组、两病因</a:t>
            </a:r>
          </a:p>
          <a:p xmlns:a="http://schemas.openxmlformats.org/drawingml/2006/main">
            <a: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rPr>
              <a:t>核对分型可加性</a:t>
            </a:r>
          </a:p>
        </p:txBody>
      </p:sp>
      <p:sp>
        <p:nvSpPr>
          <p:cNvPr id="8" name="技术路线阶段2">
            <a:extLst xmlns:a="http://schemas.openxmlformats.org/drawingml/2006/main">
              <a:ext uri="{FF2B5EF4-FFF2-40B4-BE49-F238E27FC236}">
                <a16:creationId xmlns:a16="http://schemas.microsoft.com/office/drawing/2014/main" id="{6AB6554B-200D-43EB-A845-BD669A0A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67000"/>
            <a:ext cx="24765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BE4E7"/>
            </a:solidFill>
          </a:ln>
        </p:spPr>
      </p:sp>
      <p:sp>
        <p:nvSpPr>
          <p:cNvPr id="9" name="02  构造参照">
            <a:extLst xmlns:a="http://schemas.openxmlformats.org/drawingml/2006/main">
              <a:ext uri="{FF2B5EF4-FFF2-40B4-BE49-F238E27FC236}">
                <a16:creationId xmlns:a16="http://schemas.microsoft.com/office/drawing/2014/main" id="{DC9FEF90-7CF2-4443-9AA8-5C278C84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575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rPr>
              <a:t>02  构造参照</a:t>
            </a:r>
          </a:p>
        </p:txBody>
      </p:sp>
      <p:sp>
        <p:nvSpPr>
          <p:cNvPr id="10" name="年龄内合并18国&#10;固定年龄权重标化&#10;计算中国与参照率差">
            <a:extLst xmlns:a="http://schemas.openxmlformats.org/drawingml/2006/main">
              <a:ext uri="{FF2B5EF4-FFF2-40B4-BE49-F238E27FC236}">
                <a16:creationId xmlns:a16="http://schemas.microsoft.com/office/drawing/2014/main" id="{62E49D8B-70EA-42E7-92E6-22149BA1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57575"/>
            <a:ext cx="21717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rPr>
              <a:t>年龄内合并18国</a:t>
            </a:r>
          </a:p>
          <a:p xmlns:a="http://schemas.openxmlformats.org/drawingml/2006/main">
            <a: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rPr>
              <a:t>固定年龄权重标化</a:t>
            </a:r>
          </a:p>
          <a:p xmlns:a="http://schemas.openxmlformats.org/drawingml/2006/main">
            <a: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rPr>
              <a:t>计算中国与参照率差</a:t>
            </a:r>
          </a:p>
        </p:txBody>
      </p:sp>
      <p:sp>
        <p:nvSpPr>
          <p:cNvPr id="11" name="技术路线阶段3">
            <a:extLst xmlns:a="http://schemas.openxmlformats.org/drawingml/2006/main">
              <a:ext uri="{FF2B5EF4-FFF2-40B4-BE49-F238E27FC236}">
                <a16:creationId xmlns:a16="http://schemas.microsoft.com/office/drawing/2014/main" id="{C1C3D397-B6EB-496F-B198-E2B53E8F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67000"/>
            <a:ext cx="24765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BE4E7"/>
            </a:solidFill>
          </a:ln>
        </p:spPr>
      </p:sp>
      <p:sp>
        <p:nvSpPr>
          <p:cNvPr id="12" name="03  对称分解">
            <a:extLst xmlns:a="http://schemas.openxmlformats.org/drawingml/2006/main">
              <a:ext uri="{FF2B5EF4-FFF2-40B4-BE49-F238E27FC236}">
                <a16:creationId xmlns:a16="http://schemas.microsoft.com/office/drawing/2014/main" id="{70E45BAE-1375-49AF-A774-90582C4C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rPr>
              <a:t>03  对称分解</a:t>
            </a:r>
          </a:p>
        </p:txBody>
      </p:sp>
      <p:sp>
        <p:nvSpPr>
          <p:cNvPr id="13" name="中国率变化&#10;参照国率变化&#10;参照国人口构成变化">
            <a:extLst xmlns:a="http://schemas.openxmlformats.org/drawingml/2006/main">
              <a:ext uri="{FF2B5EF4-FFF2-40B4-BE49-F238E27FC236}">
                <a16:creationId xmlns:a16="http://schemas.microsoft.com/office/drawing/2014/main" id="{BAAE4D62-7B2C-434A-8B2D-76ECE623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57575"/>
            <a:ext cx="21717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rPr>
              <a:t>中国率变化</a:t>
            </a:r>
          </a:p>
          <a:p xmlns:a="http://schemas.openxmlformats.org/drawingml/2006/main">
            <a: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rPr>
              <a:t>参照国率变化</a:t>
            </a:r>
          </a:p>
          <a:p xmlns:a="http://schemas.openxmlformats.org/drawingml/2006/main">
            <a: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rPr>
              <a:t>参照国人口构成变化</a:t>
            </a:r>
          </a:p>
        </p:txBody>
      </p:sp>
      <p:sp>
        <p:nvSpPr>
          <p:cNvPr id="14" name="技术路线阶段4">
            <a:extLst xmlns:a="http://schemas.openxmlformats.org/drawingml/2006/main">
              <a:ext uri="{FF2B5EF4-FFF2-40B4-BE49-F238E27FC236}">
                <a16:creationId xmlns:a16="http://schemas.microsoft.com/office/drawing/2014/main" id="{C83322C2-E23C-40DE-8DF1-34F79562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67000"/>
            <a:ext cx="24765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BE4E7"/>
            </a:solidFill>
          </a:ln>
        </p:spPr>
      </p:sp>
      <p:sp>
        <p:nvSpPr>
          <p:cNvPr id="15" name="04  敏感性">
            <a:extLst xmlns:a="http://schemas.openxmlformats.org/drawingml/2006/main">
              <a:ext uri="{FF2B5EF4-FFF2-40B4-BE49-F238E27FC236}">
                <a16:creationId xmlns:a16="http://schemas.microsoft.com/office/drawing/2014/main" id="{FD142428-9D1E-4E30-90E1-6141A9EA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575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rPr>
              <a:t>04  敏感性</a:t>
            </a:r>
          </a:p>
        </p:txBody>
      </p:sp>
      <p:sp>
        <p:nvSpPr>
          <p:cNvPr id="16" name="两套人口来源&#10;固定1990与等权&#10;逐国剔除、终点检查">
            <a:extLst xmlns:a="http://schemas.openxmlformats.org/drawingml/2006/main">
              <a:ext uri="{FF2B5EF4-FFF2-40B4-BE49-F238E27FC236}">
                <a16:creationId xmlns:a16="http://schemas.microsoft.com/office/drawing/2014/main" id="{9D6E7403-B33A-4F06-B11E-1A51B255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57575"/>
            <a:ext cx="21717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rPr>
              <a:t>两套人口来源</a:t>
            </a:r>
          </a:p>
          <a:p xmlns:a="http://schemas.openxmlformats.org/drawingml/2006/main">
            <a: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rPr>
              <a:t>固定1990与等权</a:t>
            </a:r>
          </a:p>
          <a:p xmlns:a="http://schemas.openxmlformats.org/drawingml/2006/main">
            <a: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rPr>
              <a:t>逐国剔除、终点检查</a:t>
            </a:r>
          </a:p>
        </p:txBody>
      </p:sp>
      <p:sp>
        <p:nvSpPr>
          <p:cNvPr id="20" name="Δ率差 ＝ 中国率贡献 ＋ 参照国率贡献 ＋ 人口构成贡献">
            <a:extLst xmlns:a="http://schemas.openxmlformats.org/drawingml/2006/main">
              <a:ext uri="{FF2B5EF4-FFF2-40B4-BE49-F238E27FC236}">
                <a16:creationId xmlns:a16="http://schemas.microsoft.com/office/drawing/2014/main" id="{AAD052BA-35EC-4E50-9D8B-FBFF1F2E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67325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rPr>
              <a:t>Δ率差 ＝ 中国率贡献 ＋ 参照国率贡献 ＋ 人口构成贡献</a:t>
            </a:r>
          </a:p>
        </p:txBody>
      </p:sp>
      <p:sp>
        <p:nvSpPr>
          <p:cNvPr id="21" name="UN仅替换参照国份额；两种方案使用相同的GBD疾病率和年龄标准权重">
            <a:extLst xmlns:a="http://schemas.openxmlformats.org/drawingml/2006/main">
              <a:ext uri="{FF2B5EF4-FFF2-40B4-BE49-F238E27FC236}">
                <a16:creationId xmlns:a16="http://schemas.microsoft.com/office/drawing/2014/main" id="{807AC72D-1675-4565-9FA2-5872AE4C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rPr>
              <a:t>UN仅替换参照国份额；两种方案使用相同的GBD疾病率和年龄标准权重</a:t>
            </a:r>
          </a:p>
        </p:txBody>
      </p:sp>
    </p:spTree>
    <p:extLst>
      <p:ext uri="{BB962C8B-B14F-4D97-AF65-F5344CB8AC3E}">
        <p14:creationId xmlns:p14="http://schemas.microsoft.com/office/powerpoint/2010/main" val="18314676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人口构成贡献在两套权重下均接近58%">
            <a:extLst xmlns:a="http://schemas.openxmlformats.org/drawingml/2006/main">
              <a:ext uri="{FF2B5EF4-FFF2-40B4-BE49-F238E27FC236}">
                <a16:creationId xmlns:a16="http://schemas.microsoft.com/office/drawing/2014/main" id="{08B6372F-FEEB-4C06-919B-D046B497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rPr>
              <a:t>人口构成贡献在两套权重下均接近58%</a:t>
            </a:r>
          </a:p>
        </p:txBody>
      </p:sp>
      <p:sp>
        <p:nvSpPr>
          <p:cNvPr id="2" name="3 / 5">
            <a:extLst xmlns:a="http://schemas.openxmlformats.org/drawingml/2006/main">
              <a:ext uri="{FF2B5EF4-FFF2-40B4-BE49-F238E27FC236}">
                <a16:creationId xmlns:a16="http://schemas.microsoft.com/office/drawing/2014/main" id="{D12F5627-5AEB-4F43-991C-9148C949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rPr>
              <a:t>3 / 5</a:t>
            </a:r>
          </a:p>
        </p:txBody>
      </p:sp>
      <p:sp>
        <p:nvSpPr>
          <p:cNvPr id="3" name="PCOS总不孕：率差由−272.92（1990年）变为−121.38（">
            <a:extLst xmlns:a="http://schemas.openxmlformats.org/drawingml/2006/main">
              <a:ext uri="{FF2B5EF4-FFF2-40B4-BE49-F238E27FC236}">
                <a16:creationId xmlns:a16="http://schemas.microsoft.com/office/drawing/2014/main" id="{921B1611-D074-4E2F-AE0E-998CC1CF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11125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rPr>
              <a:t>PCOS总不孕：率差由−272.92（1990年）变为−121.38（2023年）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A0738BD1-3FB5-43CB-9A7A-ADE46D653144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800100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0845a4a353c462c"/>
          </a:graphicData>
        </a:graphic>
      </p:graphicFrame>
      <p:sp>
        <p:nvSpPr>
          <p:cNvPr id="5" name="58.5%">
            <a:extLst xmlns:a="http://schemas.openxmlformats.org/drawingml/2006/main">
              <a:ext uri="{FF2B5EF4-FFF2-40B4-BE49-F238E27FC236}">
                <a16:creationId xmlns:a16="http://schemas.microsoft.com/office/drawing/2014/main" id="{F754461F-BF0B-4B17-9906-7E6D2108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43100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00" b="1">
                <a:solidFill>
                  <a:srgbClr val="126B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4500" b="1">
                <a:solidFill>
                  <a:srgbClr val="126B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4500" b="1">
                <a:solidFill>
                  <a:srgbClr val="126B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4500" b="1">
                <a:solidFill>
                  <a:srgbClr val="126B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4500" b="1">
                <a:solidFill>
                  <a:srgbClr val="126B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4500" b="1">
                <a:solidFill>
                  <a:srgbClr val="126B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4500" b="1">
                <a:solidFill>
                  <a:srgbClr val="126B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4500" b="1">
                <a:solidFill>
                  <a:srgbClr val="126B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4500" b="1">
                <a:solidFill>
                  <a:srgbClr val="126B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4500" b="1">
                <a:solidFill>
                  <a:srgbClr val="126B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126B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500" b="1">
                <a:solidFill>
                  <a:srgbClr val="126B72"/>
                </a:solidFill>
                <a:latin typeface="Arial Unicode MS"/>
                <a:ea typeface="Arial Unicode MS"/>
                <a:cs typeface="Arial Unicode MS"/>
              </a:rPr>
              <a:t>58.5%</a:t>
            </a:r>
          </a:p>
        </p:txBody>
      </p:sp>
      <p:sp>
        <p:nvSpPr>
          <p:cNvPr id="6" name="GBD人口构成贡献">
            <a:extLst xmlns:a="http://schemas.openxmlformats.org/drawingml/2006/main">
              <a:ext uri="{FF2B5EF4-FFF2-40B4-BE49-F238E27FC236}">
                <a16:creationId xmlns:a16="http://schemas.microsoft.com/office/drawing/2014/main" id="{CCFCBA8F-9959-4AFB-A84B-1D2EABC7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3367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rPr>
              <a:t>GBD人口构成贡献</a:t>
            </a:r>
          </a:p>
        </p:txBody>
      </p:sp>
      <p:sp>
        <p:nvSpPr>
          <p:cNvPr id="7" name="57.6%">
            <a:extLst xmlns:a="http://schemas.openxmlformats.org/drawingml/2006/main">
              <a:ext uri="{FF2B5EF4-FFF2-40B4-BE49-F238E27FC236}">
                <a16:creationId xmlns:a16="http://schemas.microsoft.com/office/drawing/2014/main" id="{26A2CD84-3F11-4614-8B1C-4B7A5843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95675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00" b="1">
                <a:solidFill>
                  <a:srgbClr val="BB681F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4500" b="1">
                <a:solidFill>
                  <a:srgbClr val="BB681F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4500" b="1">
                <a:solidFill>
                  <a:srgbClr val="BB681F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4500" b="1">
                <a:solidFill>
                  <a:srgbClr val="BB681F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4500" b="1">
                <a:solidFill>
                  <a:srgbClr val="BB681F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4500" b="1">
                <a:solidFill>
                  <a:srgbClr val="BB681F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4500" b="1">
                <a:solidFill>
                  <a:srgbClr val="BB681F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4500" b="1">
                <a:solidFill>
                  <a:srgbClr val="BB681F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4500" b="1">
                <a:solidFill>
                  <a:srgbClr val="BB681F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4500" b="1">
                <a:solidFill>
                  <a:srgbClr val="BB681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BB681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500" b="1">
                <a:solidFill>
                  <a:srgbClr val="BB681F"/>
                </a:solidFill>
                <a:latin typeface="Arial Unicode MS"/>
                <a:ea typeface="Arial Unicode MS"/>
                <a:cs typeface="Arial Unicode MS"/>
              </a:rPr>
              <a:t>57.6%</a:t>
            </a:r>
          </a:p>
        </p:txBody>
      </p:sp>
      <p:sp>
        <p:nvSpPr>
          <p:cNvPr id="8" name="UN人口构成贡献">
            <a:extLst xmlns:a="http://schemas.openxmlformats.org/drawingml/2006/main">
              <a:ext uri="{FF2B5EF4-FFF2-40B4-BE49-F238E27FC236}">
                <a16:creationId xmlns:a16="http://schemas.microsoft.com/office/drawing/2014/main" id="{DFAC6E86-F4C9-42FE-B37B-9136F7FB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2862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rPr>
              <a:t>UN人口构成贡献</a:t>
            </a:r>
          </a:p>
        </p:txBody>
      </p:sp>
      <p:sp>
        <p:nvSpPr>
          <p:cNvPr id="9" name="GBD：+88.65 / +151.54；UN：+86.76 / +1">
            <a:extLst xmlns:a="http://schemas.openxmlformats.org/drawingml/2006/main">
              <a:ext uri="{FF2B5EF4-FFF2-40B4-BE49-F238E27FC236}">
                <a16:creationId xmlns:a16="http://schemas.microsoft.com/office/drawing/2014/main" id="{4E3EAF57-D551-405F-999D-40EFEA0F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48275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rPr>
              <a:t>GBD：+88.65 / +151.54；UN：+86.76 / +150.69（单位：每10万女性）</a:t>
            </a:r>
          </a:p>
        </p:txBody>
      </p:sp>
      <p:sp>
        <p:nvSpPr>
          <p:cNvPr id="10" name="更换人口来源后，人口构成贡献仍接近58%，支持主要分解结果的稳健性。&#10;">
            <a:extLst xmlns:a="http://schemas.openxmlformats.org/drawingml/2006/main">
              <a:ext uri="{FF2B5EF4-FFF2-40B4-BE49-F238E27FC236}">
                <a16:creationId xmlns:a16="http://schemas.microsoft.com/office/drawing/2014/main" id="{DE7F9826-2375-4E37-8E39-4E7BBD61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5310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80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80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80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80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80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80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80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80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80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rPr>
              <a:t>更换人口来源后，人口构成贡献仍接近58%，支持主要分解结果的稳健性。</a:t>
            </a:r>
          </a:p>
          <a:p xmlns:a="http://schemas.openxmlformats.org/drawingml/2006/main">
            <a:pPr>
              <a:defRPr sz="180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rPr>
              <a:t>该贡献反映参照结构变化，不能解释为疾病病因或医疗改善。</a:t>
            </a:r>
          </a:p>
        </p:txBody>
      </p:sp>
    </p:spTree>
    <p:extLst>
      <p:ext uri="{BB962C8B-B14F-4D97-AF65-F5344CB8AC3E}">
        <p14:creationId xmlns:p14="http://schemas.microsoft.com/office/powerpoint/2010/main" val="3069158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继发不孕率差的方向随比较基准改变">
            <a:extLst xmlns:a="http://schemas.openxmlformats.org/drawingml/2006/main">
              <a:ext uri="{FF2B5EF4-FFF2-40B4-BE49-F238E27FC236}">
                <a16:creationId xmlns:a16="http://schemas.microsoft.com/office/drawing/2014/main" id="{E993EFF4-7FB6-4BA9-9478-6D8432E9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rPr>
              <a:t>继发不孕率差的方向随比较基准改变</a:t>
            </a:r>
          </a:p>
        </p:txBody>
      </p:sp>
      <p:sp>
        <p:nvSpPr>
          <p:cNvPr id="2" name="4 / 5">
            <a:extLst xmlns:a="http://schemas.openxmlformats.org/drawingml/2006/main">
              <a:ext uri="{FF2B5EF4-FFF2-40B4-BE49-F238E27FC236}">
                <a16:creationId xmlns:a16="http://schemas.microsoft.com/office/drawing/2014/main" id="{743EEB78-DAD8-4997-8A5B-BAEA9940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rPr>
              <a:t>4 / 5</a:t>
            </a:r>
          </a:p>
        </p:txBody>
      </p:sp>
      <p:sp>
        <p:nvSpPr>
          <p:cNvPr id="3" name="2023年PCOS相关继发不孕，中国减18国参照，UN方案">
            <a:extLst xmlns:a="http://schemas.openxmlformats.org/drawingml/2006/main">
              <a:ext uri="{FF2B5EF4-FFF2-40B4-BE49-F238E27FC236}">
                <a16:creationId xmlns:a16="http://schemas.microsoft.com/office/drawing/2014/main" id="{A6418333-486E-4A8B-8E8A-2E841672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11125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rPr>
              <a:t>2023年PCOS相关继发不孕，中国减18国参照，UN方案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01A61830-463D-4F23-A57E-3718B7D23620}"/>
              </a:ext>
            </a:extLst>
          </p:cNvPr>
          <p:cNvGraphicFramePr/>
          <p:nvPr/>
        </p:nvGraphicFramePr>
        <p:xfrm>
          <a:off xmlns:a="http://schemas.openxmlformats.org/drawingml/2006/main" x="533400" y="1838325"/>
          <a:ext xmlns:a="http://schemas.openxmlformats.org/drawingml/2006/main" cx="8115300" cy="3124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38e040f40f43a8"/>
          </a:graphicData>
        </a:graphic>
      </p:graphicFrame>
      <p:sp>
        <p:nvSpPr>
          <p:cNvPr id="5" name="+2.26">
            <a:extLst xmlns:a="http://schemas.openxmlformats.org/drawingml/2006/main">
              <a:ext uri="{FF2B5EF4-FFF2-40B4-BE49-F238E27FC236}">
                <a16:creationId xmlns:a16="http://schemas.microsoft.com/office/drawing/2014/main" id="{B7A00FE2-B370-450C-9131-F2314C33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336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75" b="1">
                <a:solidFill>
                  <a:srgbClr val="BB681F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975" b="1">
                <a:solidFill>
                  <a:srgbClr val="BB681F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975" b="1">
                <a:solidFill>
                  <a:srgbClr val="BB681F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975" b="1">
                <a:solidFill>
                  <a:srgbClr val="BB681F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975" b="1">
                <a:solidFill>
                  <a:srgbClr val="BB681F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975" b="1">
                <a:solidFill>
                  <a:srgbClr val="BB681F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975" b="1">
                <a:solidFill>
                  <a:srgbClr val="BB681F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975" b="1">
                <a:solidFill>
                  <a:srgbClr val="BB681F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975" b="1">
                <a:solidFill>
                  <a:srgbClr val="BB681F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975" b="1">
                <a:solidFill>
                  <a:srgbClr val="BB681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975" b="1">
                <a:solidFill>
                  <a:srgbClr val="BB681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75" b="1">
                <a:solidFill>
                  <a:srgbClr val="BB681F"/>
                </a:solidFill>
                <a:latin typeface="Arial Unicode MS"/>
                <a:ea typeface="Arial Unicode MS"/>
                <a:cs typeface="Arial Unicode MS"/>
              </a:rPr>
              <a:t>+2.26</a:t>
            </a:r>
          </a:p>
        </p:txBody>
      </p:sp>
      <p:sp>
        <p:nvSpPr>
          <p:cNvPr id="6" name="当年人口权重下&#10;接近零的正差值">
            <a:extLst xmlns:a="http://schemas.openxmlformats.org/drawingml/2006/main">
              <a:ext uri="{FF2B5EF4-FFF2-40B4-BE49-F238E27FC236}">
                <a16:creationId xmlns:a16="http://schemas.microsoft.com/office/drawing/2014/main" id="{6E136088-76C2-4B0E-B504-B45BAB72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43225"/>
            <a:ext cx="2571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rPr>
              <a:t>当年人口权重下</a:t>
            </a:r>
          </a:p>
          <a:p xmlns:a="http://schemas.openxmlformats.org/drawingml/2006/main">
            <a: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rPr>
              <a:t>接近零的正差值</a:t>
            </a:r>
          </a:p>
        </p:txBody>
      </p:sp>
      <p:sp>
        <p:nvSpPr>
          <p:cNvPr id="7" name="固定权重与等权&#10;均为负差值">
            <a:extLst xmlns:a="http://schemas.openxmlformats.org/drawingml/2006/main">
              <a:ext uri="{FF2B5EF4-FFF2-40B4-BE49-F238E27FC236}">
                <a16:creationId xmlns:a16="http://schemas.microsoft.com/office/drawing/2014/main" id="{E75CD8AD-BC68-4EB1-9344-2EC317B0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19550"/>
            <a:ext cx="2571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02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02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02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02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02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02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02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02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02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rPr>
              <a:t>固定权重与等权</a:t>
            </a:r>
          </a:p>
          <a:p xmlns:a="http://schemas.openxmlformats.org/drawingml/2006/main">
            <a:pPr>
              <a:defRPr sz="202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rPr>
              <a:t>均为负差值</a:t>
            </a:r>
          </a:p>
        </p:txBody>
      </p:sp>
      <p:sp>
        <p:nvSpPr>
          <p:cNvPr id="8" name="单位：每10万名15—49岁女性。疾病率相同，仅参照国权重改变">
            <a:extLst xmlns:a="http://schemas.openxmlformats.org/drawingml/2006/main">
              <a:ext uri="{FF2B5EF4-FFF2-40B4-BE49-F238E27FC236}">
                <a16:creationId xmlns:a16="http://schemas.microsoft.com/office/drawing/2014/main" id="{5EF6525D-DCFB-4EA9-8605-7BBA5C97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48275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rPr>
              <a:t>单位：每10万名15—49岁女性。疾病率相同，仅参照国权重改变</a:t>
            </a:r>
          </a:p>
        </p:txBody>
      </p:sp>
      <p:sp>
        <p:nvSpPr>
          <p:cNvPr id="9" name="“中国继发不孕率高于参照”的方向并不稳定，取决于比较基准。&#10;三种基准回">
            <a:extLst xmlns:a="http://schemas.openxmlformats.org/drawingml/2006/main">
              <a:ext uri="{FF2B5EF4-FFF2-40B4-BE49-F238E27FC236}">
                <a16:creationId xmlns:a16="http://schemas.microsoft.com/office/drawing/2014/main" id="{873DBB77-6363-4AFA-BD0C-B2E6D76E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5310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80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80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80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80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80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80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80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80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80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rPr>
              <a:t>“中国继发不孕率高于参照”的方向并不稳定，取决于比较基准。</a:t>
            </a:r>
          </a:p>
          <a:p xmlns:a="http://schemas.openxmlformats.org/drawingml/2006/main">
            <a:pPr>
              <a:defRPr sz="180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rPr>
              <a:t>三种基准回答不同的描述性问题，其范围不能当作置信区间。</a:t>
            </a:r>
          </a:p>
        </p:txBody>
      </p:sp>
    </p:spTree>
    <p:extLst>
      <p:ext uri="{BB962C8B-B14F-4D97-AF65-F5344CB8AC3E}">
        <p14:creationId xmlns:p14="http://schemas.microsoft.com/office/powerpoint/2010/main" val="12187523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内异症末年结果不支持直接宣称长期收敛">
            <a:extLst xmlns:a="http://schemas.openxmlformats.org/drawingml/2006/main">
              <a:ext uri="{FF2B5EF4-FFF2-40B4-BE49-F238E27FC236}">
                <a16:creationId xmlns:a16="http://schemas.microsoft.com/office/drawing/2014/main" id="{F43573B0-3D32-4B75-B3F5-28D6BE49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rPr>
              <a:t>内异症末年结果不支持直接宣称长期收敛</a:t>
            </a:r>
          </a:p>
        </p:txBody>
      </p:sp>
      <p:sp>
        <p:nvSpPr>
          <p:cNvPr id="2" name="5 / 5">
            <a:extLst xmlns:a="http://schemas.openxmlformats.org/drawingml/2006/main">
              <a:ext uri="{FF2B5EF4-FFF2-40B4-BE49-F238E27FC236}">
                <a16:creationId xmlns:a16="http://schemas.microsoft.com/office/drawing/2014/main" id="{D483C03F-ABB8-4C34-ABD0-F2933FC6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rPr>
              <a:t>5 / 5</a:t>
            </a:r>
          </a:p>
        </p:txBody>
      </p:sp>
      <p:sp>
        <p:nvSpPr>
          <p:cNvPr id="3" name="内异症相关总不孕，中国减参照，GBD人口权重">
            <a:extLst xmlns:a="http://schemas.openxmlformats.org/drawingml/2006/main">
              <a:ext uri="{FF2B5EF4-FFF2-40B4-BE49-F238E27FC236}">
                <a16:creationId xmlns:a16="http://schemas.microsoft.com/office/drawing/2014/main" id="{6EE924AE-3767-435A-BE2E-3D2C866C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11125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rPr>
              <a:t>内异症相关总不孕，中国减参照，GBD人口权重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7205E736-EB03-418E-8EF2-62E61C16E33A}"/>
              </a:ext>
            </a:extLst>
          </p:cNvPr>
          <p:cNvGraphicFramePr/>
          <p:nvPr/>
        </p:nvGraphicFramePr>
        <p:xfrm>
          <a:off xmlns:a="http://schemas.openxmlformats.org/drawingml/2006/main" x="533400" y="1885950"/>
          <a:ext xmlns:a="http://schemas.openxmlformats.org/drawingml/2006/main" cx="6858000" cy="3076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29fae967f942ad"/>
          </a:graphicData>
        </a:graphic>
      </p:graphicFrame>
      <p:sp>
        <p:nvSpPr>
          <p:cNvPr id="5" name="+23.6%">
            <a:extLst xmlns:a="http://schemas.openxmlformats.org/drawingml/2006/main">
              <a:ext uri="{FF2B5EF4-FFF2-40B4-BE49-F238E27FC236}">
                <a16:creationId xmlns:a16="http://schemas.microsoft.com/office/drawing/2014/main" id="{5F1A4E39-DB65-4A81-84C1-8D5CB1F5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90725"/>
            <a:ext cx="3333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050" b="1">
                <a:solidFill>
                  <a:srgbClr val="BB681F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4050" b="1">
                <a:solidFill>
                  <a:srgbClr val="BB681F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4050" b="1">
                <a:solidFill>
                  <a:srgbClr val="BB681F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4050" b="1">
                <a:solidFill>
                  <a:srgbClr val="BB681F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4050" b="1">
                <a:solidFill>
                  <a:srgbClr val="BB681F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4050" b="1">
                <a:solidFill>
                  <a:srgbClr val="BB681F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4050" b="1">
                <a:solidFill>
                  <a:srgbClr val="BB681F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4050" b="1">
                <a:solidFill>
                  <a:srgbClr val="BB681F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4050" b="1">
                <a:solidFill>
                  <a:srgbClr val="BB681F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4050" b="1">
                <a:solidFill>
                  <a:srgbClr val="BB681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BB681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050" b="1">
                <a:solidFill>
                  <a:srgbClr val="BB681F"/>
                </a:solidFill>
                <a:latin typeface="Arial Unicode MS"/>
                <a:ea typeface="Arial Unicode MS"/>
                <a:cs typeface="Arial Unicode MS"/>
              </a:rPr>
              <a:t>+23.6%</a:t>
            </a:r>
          </a:p>
        </p:txBody>
      </p:sp>
      <p:sp>
        <p:nvSpPr>
          <p:cNvPr id="6" name="中国内异症标化率&#10;2022—2023年上升">
            <a:extLst xmlns:a="http://schemas.openxmlformats.org/drawingml/2006/main">
              <a:ext uri="{FF2B5EF4-FFF2-40B4-BE49-F238E27FC236}">
                <a16:creationId xmlns:a16="http://schemas.microsoft.com/office/drawing/2014/main" id="{22D9644A-B0E9-4001-9663-9EDFF8DB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5750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rPr>
              <a:t>中国内异症标化率</a:t>
            </a:r>
          </a:p>
          <a:p xmlns:a="http://schemas.openxmlformats.org/drawingml/2006/main">
            <a:pPr>
              <a:defRPr sz="21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rPr>
              <a:t>2022—2023年上升</a:t>
            </a:r>
          </a:p>
        </p:txBody>
      </p:sp>
      <p:sp>
        <p:nvSpPr>
          <p:cNvPr id="7" name="联合draws尚未取得&#10;派生结果仅报告点估计">
            <a:extLst xmlns:a="http://schemas.openxmlformats.org/drawingml/2006/main">
              <a:ext uri="{FF2B5EF4-FFF2-40B4-BE49-F238E27FC236}">
                <a16:creationId xmlns:a16="http://schemas.microsoft.com/office/drawing/2014/main" id="{0978F301-83C2-4D70-B669-EA750E0B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1480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9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9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9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9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9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9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9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9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9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rPr>
              <a:t>联合draws尚未取得</a:t>
            </a:r>
          </a:p>
          <a:p xmlns:a="http://schemas.openxmlformats.org/drawingml/2006/main">
            <a:pPr>
              <a:defRPr sz="19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rPr>
              <a:t>派生结果仅报告点估计</a:t>
            </a:r>
          </a:p>
        </p:txBody>
      </p:sp>
      <p:sp>
        <p:nvSpPr>
          <p:cNvPr id="8" name="率差单位：每10万名15—49岁女性；2023年的近零差值依赖末年变化">
            <a:extLst xmlns:a="http://schemas.openxmlformats.org/drawingml/2006/main">
              <a:ext uri="{FF2B5EF4-FFF2-40B4-BE49-F238E27FC236}">
                <a16:creationId xmlns:a16="http://schemas.microsoft.com/office/drawing/2014/main" id="{B3219CBA-63AC-4144-B56D-3C41B2F5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48275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5646C"/>
                </a:solidFill>
                <a:latin typeface="Arial Unicode MS"/>
                <a:ea typeface="Arial Unicode MS"/>
                <a:cs typeface="Arial Unicode MS"/>
              </a:rPr>
              <a:t>率差单位：每10万名15—49岁女性；2023年的近零差值依赖末年变化</a:t>
            </a:r>
          </a:p>
        </p:txBody>
      </p:sp>
      <p:sp>
        <p:nvSpPr>
          <p:cNvPr id="9" name="论文的主要价值是识别比较基准怎样改变率差解释，末年近零值需谨慎。&#10;UN">
            <a:extLst xmlns:a="http://schemas.openxmlformats.org/drawingml/2006/main">
              <a:ext uri="{FF2B5EF4-FFF2-40B4-BE49-F238E27FC236}">
                <a16:creationId xmlns:a16="http://schemas.microsoft.com/office/drawing/2014/main" id="{BF09385E-D4B5-437C-A432-59C35B24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5310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80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80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80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80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80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80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80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80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80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rPr>
              <a:t>论文的主要价值是识别比较基准怎样改变率差解释，末年近零值需谨慎。</a:t>
            </a:r>
          </a:p>
          <a:p xmlns:a="http://schemas.openxmlformats.org/drawingml/2006/main">
            <a:pPr>
              <a:defRPr sz="180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3744"/>
                </a:solidFill>
                <a:latin typeface="Arial Unicode MS"/>
                <a:ea typeface="Arial Unicode MS"/>
                <a:cs typeface="Arial Unicode MS"/>
              </a:rPr>
              <a:t>UN人口资料检查权重敏感性，不能独立验证疾病患病率。</a:t>
            </a:r>
          </a:p>
        </p:txBody>
      </p:sp>
    </p:spTree>
    <p:extLst>
      <p:ext uri="{BB962C8B-B14F-4D97-AF65-F5344CB8AC3E}">
        <p14:creationId xmlns:p14="http://schemas.microsoft.com/office/powerpoint/2010/main" val="19986581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2026-10-26T07:32:04.0200000Z</dcterms:created>
  <dcterms:modified xsi:type="dcterms:W3CDTF">2026-10-26T07:32:04.0200000Z</dcterms:modified>
</coreProperties>
</file>